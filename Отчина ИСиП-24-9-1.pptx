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4" r:id="rId11"/>
    <p:sldId id="267" r:id="rId12"/>
    <p:sldId id="268" r:id="rId13"/>
    <p:sldId id="269" r:id="rId14"/>
    <p:sldId id="270" r:id="rId15"/>
    <p:sldId id="280" r:id="rId16"/>
    <p:sldId id="271" r:id="rId17"/>
    <p:sldId id="272" r:id="rId18"/>
    <p:sldId id="273" r:id="rId19"/>
    <p:sldId id="274" r:id="rId20"/>
    <p:sldId id="281" r:id="rId21"/>
    <p:sldId id="282" r:id="rId22"/>
    <p:sldId id="275" r:id="rId23"/>
    <p:sldId id="276" r:id="rId24"/>
    <p:sldId id="279" r:id="rId25"/>
    <p:sldId id="277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75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3E0E8D-5D18-4184-885D-B8CF1229EB51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20613-85A4-4AE3-93A5-40199800B1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60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120613-85A4-4AE3-93A5-40199800B1A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353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6201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5297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99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53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8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85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70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54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07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75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31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32105-A12B-4BDD-9FB1-6F6328B2967A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4E772-79DF-4472-AABF-462DC446784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092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2669925"/>
            <a:ext cx="9144000" cy="72514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«Проектирование ИС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Мебельный салон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03862" y="4407288"/>
            <a:ext cx="4850296" cy="165175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Отчина А.А.,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2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 </a:t>
            </a:r>
            <a:r>
              <a:rPr lang="ru-RU" sz="1800" kern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ИСиП</a:t>
            </a:r>
            <a:r>
              <a:rPr lang="ru-RU" sz="18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24-9-1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kern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Проверила: Гончарова Т.В., должность: преподаватель проф. дисциплин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53143" y="303793"/>
            <a:ext cx="1098731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  ТЮМЕНСКОЙ ОБЛАСТИ 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«ТЮМЕНСКИЙ ТЕХНИКУМ СТРОИТЕЛЬНОЙ ИНДУСТРИИ И ГОРОДСКОГО ХОЗЯЙСТВА»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6801" y="6288156"/>
            <a:ext cx="1907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750386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58207" y="293077"/>
            <a:ext cx="68755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22F11B-62C6-4C0E-BDAA-62503D646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34" y="1205169"/>
            <a:ext cx="10788162" cy="40626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мебели для спален - это коммерческая онлайн-платформа, специализирующаяся на розничной продаже товаров для обустройства спальной комнаты. Основными услугами магазина являются предоставление доступа к электронному каталогу продукции, оформление заказов на выбранные товары, организация онлайн-оплаты и взаимодействие со службой доставки для передачи товара клиенту.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также может предлагать дополнительные сервисы, такие как консультации по выбору мебели (например, подбор кровати под интерьер), услуги по сборке и установке мебели на дому, а также гарантийное и постгарантийное обслуживание проданных товаров.</a:t>
            </a:r>
          </a:p>
        </p:txBody>
      </p:sp>
    </p:spTree>
    <p:extLst>
      <p:ext uri="{BB962C8B-B14F-4D97-AF65-F5344CB8AC3E}">
        <p14:creationId xmlns:p14="http://schemas.microsoft.com/office/powerpoint/2010/main" val="3260639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62175" y="304800"/>
            <a:ext cx="7867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ПРОБЛЕМАТИКА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05CF41-3621-4B1B-81E2-67E59171A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714" y="1284790"/>
            <a:ext cx="10515600" cy="2144210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Конкуренция на рынке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Репутационные риски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управления данными и складом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взаимодействия с клиентом</a:t>
            </a:r>
          </a:p>
        </p:txBody>
      </p:sp>
    </p:spTree>
    <p:extLst>
      <p:ext uri="{BB962C8B-B14F-4D97-AF65-F5344CB8AC3E}">
        <p14:creationId xmlns:p14="http://schemas.microsoft.com/office/powerpoint/2010/main" val="284579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925" y="529389"/>
            <a:ext cx="1078029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Цель данной работы – проектирование информационной системы для автоматизации бизнес-процессов склада-магазина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анализ информационных систем аналогов.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рынок онлайн-продаж мебели в России и выделить общие особенности автоматизации систем.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</a:t>
            </a:r>
            <a:r>
              <a:rPr lang="e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диаграммы, для большего понимания предметной области в целом.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базу данных под онлайн-магазин.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простой и понятный интерфейс веб-сайта.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руководство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509558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2926" y="1251285"/>
            <a:ext cx="107963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 исследования является: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мебели для спален.</a:t>
            </a: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Предметом исследования является: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покупки готовой мебели для спален через онлайн-магазин.</a:t>
            </a:r>
          </a:p>
        </p:txBody>
      </p:sp>
    </p:spTree>
    <p:extLst>
      <p:ext uri="{BB962C8B-B14F-4D97-AF65-F5344CB8AC3E}">
        <p14:creationId xmlns:p14="http://schemas.microsoft.com/office/powerpoint/2010/main" val="4085416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1633" y="283137"/>
            <a:ext cx="83087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«Покупка готовой мебели»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337543-7AB7-475C-960C-202B98A56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075" y="1219764"/>
            <a:ext cx="7431849" cy="52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426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5565" y="307400"/>
            <a:ext cx="8060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IDEF0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1ур.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05778C-C88F-4C1D-915B-34CD26CE1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95" y="1162049"/>
            <a:ext cx="9083010" cy="52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19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97325" y="294634"/>
            <a:ext cx="7797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«Покупка готовой мебели»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3712ED-8BEF-41AE-8BAE-9009A3EF6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761" y="1152697"/>
            <a:ext cx="7740475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45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6056" y="302985"/>
            <a:ext cx="6859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ДЕКОМПОЗИЦИЯ ДИАГРАММЫ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40AE07-D570-4DD1-B57A-385655A58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921" y="884869"/>
            <a:ext cx="7536156" cy="567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0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76182" y="272187"/>
            <a:ext cx="5239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ТЕХНИЧЕСКОЕ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2926" y="2429193"/>
            <a:ext cx="6497052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к системе:</a:t>
            </a:r>
          </a:p>
          <a:p>
            <a:pPr algn="just"/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Введение базы данных</a:t>
            </a: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Регистрация и автоматизация пользователя</a:t>
            </a: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Отображение каталога товаров</a:t>
            </a:r>
          </a:p>
          <a:p>
            <a:pPr marL="28575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Отображение окна для оформления нового заказа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Учёт и подтверждение оплаты</a:t>
            </a: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Связь с службой доставки и предоставление ей необходимой информации о клиенте</a:t>
            </a: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Формирование отчётов о продажах</a:t>
            </a:r>
          </a:p>
          <a:p>
            <a:pPr marL="285750" lvl="0" indent="-2857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Отправка уведомлений пользователям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2926" y="1258357"/>
            <a:ext cx="107642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- создание удобного и функционального веб-приложения для потенциальных клиентов магазина, позволяющего быстро находить нужный товар, оформлять заказ и проводить оплату. 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02906" y="2429193"/>
            <a:ext cx="4989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1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Этапы разработки: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Анализ требований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приложения и его функционала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Внедрение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dirty="0">
                <a:solidFill>
                  <a:srgbClr val="212529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Поддержка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596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5989" y="219730"/>
            <a:ext cx="8880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диаграмма вариантов использования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EB56F6-D218-4659-A027-CDDDA95DCEE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 t="7522" r="6681" b="8584"/>
          <a:stretch/>
        </p:blipFill>
        <p:spPr bwMode="auto">
          <a:xfrm>
            <a:off x="2819237" y="1343660"/>
            <a:ext cx="6553521" cy="46951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9006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18014" y="236310"/>
            <a:ext cx="69559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диаграмма деятельности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3A355D-2102-4306-9B89-C89416D0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523" y="828674"/>
            <a:ext cx="383895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87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9378" y="226785"/>
            <a:ext cx="8013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диаграмма последовательности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8D41E1-7DDC-4BEE-9C57-C43FECB3C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189" y="955128"/>
            <a:ext cx="5857622" cy="559988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6256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27615" y="264885"/>
            <a:ext cx="5736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диаграмма классов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AB55EC-8DBF-4BE6-9B24-4FDC5E24A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655" y="1114424"/>
            <a:ext cx="4626689" cy="54084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7747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9ADF85-6B01-4E5B-8493-169FBFE3B790}"/>
              </a:ext>
            </a:extLst>
          </p:cNvPr>
          <p:cNvSpPr txBox="1"/>
          <p:nvPr/>
        </p:nvSpPr>
        <p:spPr>
          <a:xfrm>
            <a:off x="3355914" y="202195"/>
            <a:ext cx="5480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Концептуальная модель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BF87E5F-5CF5-4F30-909E-8B5B9C347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940" y="835269"/>
            <a:ext cx="4922120" cy="591722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9715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4727" y="287982"/>
            <a:ext cx="6222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9A1657-85F1-413D-B13D-FF7ABEC1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31" y="999009"/>
            <a:ext cx="5818738" cy="557100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95332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4103" y="255360"/>
            <a:ext cx="8603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ЗАПРОСЫ К БАЗЕ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376" y="1263014"/>
            <a:ext cx="5257800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Какого товара на складе осталось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&lt;= 5</a:t>
            </a:r>
            <a:endParaRPr lang="ru-RU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BC043-784C-4986-A22F-4D4BE13CB192}"/>
              </a:ext>
            </a:extLst>
          </p:cNvPr>
          <p:cNvSpPr txBox="1"/>
          <p:nvPr/>
        </p:nvSpPr>
        <p:spPr>
          <a:xfrm>
            <a:off x="333375" y="1963098"/>
            <a:ext cx="60769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id_Product, Name, `Quantity in stock`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`Product`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`Quantity in stock` &lt;= 5;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422F71-DC17-4CF0-BCF2-17D09C6B41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0" t="20673" r="886" b="70062"/>
          <a:stretch/>
        </p:blipFill>
        <p:spPr>
          <a:xfrm>
            <a:off x="333375" y="4140052"/>
            <a:ext cx="8265302" cy="41578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FA41781-CE7C-4EDF-AF46-E69131A818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7" t="67989" r="48508" b="567"/>
          <a:stretch/>
        </p:blipFill>
        <p:spPr>
          <a:xfrm>
            <a:off x="333375" y="4868615"/>
            <a:ext cx="4333875" cy="141073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3602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2487" y="572729"/>
            <a:ext cx="77737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Список товаров в корзинах, выбранных более одного раза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FD65E27-2480-4430-8E36-8E754BFABE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8" t="23490" r="655" b="61688"/>
          <a:stretch/>
        </p:blipFill>
        <p:spPr>
          <a:xfrm>
            <a:off x="322487" y="4162425"/>
            <a:ext cx="10039350" cy="46166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F7E056-593D-4B8E-BC07-38865450AC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" t="78554" r="60851" b="651"/>
          <a:stretch/>
        </p:blipFill>
        <p:spPr>
          <a:xfrm>
            <a:off x="322487" y="4885097"/>
            <a:ext cx="5030847" cy="82037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FC0C89-826E-46DC-BBC8-74A35F856C69}"/>
              </a:ext>
            </a:extLst>
          </p:cNvPr>
          <p:cNvSpPr txBox="1"/>
          <p:nvPr/>
        </p:nvSpPr>
        <p:spPr>
          <a:xfrm>
            <a:off x="322487" y="129540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p.id_Product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НомерТовара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НазваниеТовара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c.Quantity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`Cart` c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`Product` p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c.Product_id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p.id_Product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c.Quantity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1;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2423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515" y="566850"/>
            <a:ext cx="4209435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Список неоплаченных заказов</a:t>
            </a:r>
            <a:endParaRPr lang="ru-RU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079245-02A6-47F1-8677-35BD2A05CC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8" t="23602" r="1107" b="61802"/>
          <a:stretch/>
        </p:blipFill>
        <p:spPr>
          <a:xfrm>
            <a:off x="343515" y="4162425"/>
            <a:ext cx="9658350" cy="44767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225EEC-5D9F-4CCE-93AB-B20F825E49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" t="82431" r="68768" b="2209"/>
          <a:stretch/>
        </p:blipFill>
        <p:spPr>
          <a:xfrm>
            <a:off x="343515" y="4868544"/>
            <a:ext cx="5038111" cy="778723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967296-9E42-4BA5-9B59-F29561A8A89E}"/>
              </a:ext>
            </a:extLst>
          </p:cNvPr>
          <p:cNvSpPr txBox="1"/>
          <p:nvPr/>
        </p:nvSpPr>
        <p:spPr>
          <a:xfrm>
            <a:off x="343515" y="1292019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o.id_Order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НомерЗаказа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o.`Issue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date`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ДатаОформления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c.`Full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name`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ИмяКлиента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`Order` o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Client c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o.Client_id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c.id_Client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Payment p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o.id_Order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p.Order_id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p.`Payment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date` IS NULL;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369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514" y="566850"/>
            <a:ext cx="9908317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Список заказов, оплаченных картой "Мир" с суммой больше 100000 тысяч</a:t>
            </a:r>
            <a:endParaRPr lang="ru-RU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67296-9E42-4BA5-9B59-F29561A8A89E}"/>
              </a:ext>
            </a:extLst>
          </p:cNvPr>
          <p:cNvSpPr txBox="1"/>
          <p:nvPr/>
        </p:nvSpPr>
        <p:spPr>
          <a:xfrm>
            <a:off x="343515" y="1292019"/>
            <a:ext cx="74552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`Payment card`, `Amount to be paid`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`Payment`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`Payment card` =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`Amount to be paid` &gt; 10000;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247097-60CA-45E5-804C-E87ABEC504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2" t="22548" r="2436" b="67064"/>
          <a:stretch/>
        </p:blipFill>
        <p:spPr>
          <a:xfrm>
            <a:off x="343514" y="4167239"/>
            <a:ext cx="9821426" cy="36549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713D175-312A-429D-BF75-C0CC0990B4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" t="71260" r="60512" b="209"/>
          <a:stretch/>
        </p:blipFill>
        <p:spPr>
          <a:xfrm>
            <a:off x="343513" y="4879695"/>
            <a:ext cx="4325201" cy="108130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9469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515" y="566850"/>
            <a:ext cx="6663954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Список адресов заказов и инициалы получателей</a:t>
            </a:r>
            <a:endParaRPr lang="ru-RU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67296-9E42-4BA5-9B59-F29561A8A89E}"/>
              </a:ext>
            </a:extLst>
          </p:cNvPr>
          <p:cNvSpPr txBox="1"/>
          <p:nvPr/>
        </p:nvSpPr>
        <p:spPr>
          <a:xfrm>
            <a:off x="343515" y="1292019"/>
            <a:ext cx="74552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ds.Address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АдресДоставки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.`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id_Order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НомерЗаказа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cl.`Full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name` AS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ИмяКлиента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`Delivery service` 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`Order`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ds.Order_id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mo.id_Order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`Client` cl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mo.Client_id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cl.id_Client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AF408E-6370-479A-8619-F9F7CACF50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5" t="4250" b="81438"/>
          <a:stretch/>
        </p:blipFill>
        <p:spPr>
          <a:xfrm>
            <a:off x="343513" y="4131887"/>
            <a:ext cx="9644429" cy="501659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095006E-B962-4384-ADD2-CE867308BF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512" r="67823"/>
          <a:stretch/>
        </p:blipFill>
        <p:spPr>
          <a:xfrm>
            <a:off x="343513" y="4897315"/>
            <a:ext cx="3023941" cy="157315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0760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46590" y="245835"/>
            <a:ext cx="6898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3B0AE1-26C1-474F-8E02-F43E9DD944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01" r="211" b="-1"/>
          <a:stretch/>
        </p:blipFill>
        <p:spPr>
          <a:xfrm>
            <a:off x="1927747" y="995362"/>
            <a:ext cx="8336503" cy="4867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3CC42D-8D9A-41BE-A0A0-FD4AC337CC9C}"/>
              </a:ext>
            </a:extLst>
          </p:cNvPr>
          <p:cNvSpPr txBox="1"/>
          <p:nvPr/>
        </p:nvSpPr>
        <p:spPr>
          <a:xfrm>
            <a:off x="1927747" y="5888889"/>
            <a:ext cx="1773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экран</a:t>
            </a:r>
          </a:p>
        </p:txBody>
      </p:sp>
    </p:spTree>
    <p:extLst>
      <p:ext uri="{BB962C8B-B14F-4D97-AF65-F5344CB8AC3E}">
        <p14:creationId xmlns:p14="http://schemas.microsoft.com/office/powerpoint/2010/main" val="314339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D224A1-93EA-452A-AEB9-C904FEFA0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45" y="749576"/>
            <a:ext cx="7535309" cy="53588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FA60D1-0D69-4873-964B-24AD6796804A}"/>
              </a:ext>
            </a:extLst>
          </p:cNvPr>
          <p:cNvSpPr txBox="1"/>
          <p:nvPr/>
        </p:nvSpPr>
        <p:spPr>
          <a:xfrm>
            <a:off x="2328345" y="6108424"/>
            <a:ext cx="1856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каталога</a:t>
            </a:r>
          </a:p>
        </p:txBody>
      </p:sp>
    </p:spTree>
    <p:extLst>
      <p:ext uri="{BB962C8B-B14F-4D97-AF65-F5344CB8AC3E}">
        <p14:creationId xmlns:p14="http://schemas.microsoft.com/office/powerpoint/2010/main" val="1123317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94D2E0-54D6-408F-B3E8-47365C980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803" y="743711"/>
            <a:ext cx="8210394" cy="537057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390148-6D95-4A78-80B7-39BE3A1FE9F5}"/>
              </a:ext>
            </a:extLst>
          </p:cNvPr>
          <p:cNvSpPr txBox="1"/>
          <p:nvPr/>
        </p:nvSpPr>
        <p:spPr>
          <a:xfrm>
            <a:off x="1990803" y="6114289"/>
            <a:ext cx="187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Экран корзины</a:t>
            </a:r>
          </a:p>
        </p:txBody>
      </p:sp>
    </p:spTree>
    <p:extLst>
      <p:ext uri="{BB962C8B-B14F-4D97-AF65-F5344CB8AC3E}">
        <p14:creationId xmlns:p14="http://schemas.microsoft.com/office/powerpoint/2010/main" val="19920212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57700" y="28575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76325" y="1266824"/>
            <a:ext cx="100679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effectLst/>
                <a:ea typeface="Times New Roman" panose="02020603050405020304" pitchFamily="18" charset="0"/>
              </a:rPr>
              <a:t>В рамках курсового проекта по теме «Проектирование ИС «Мебельный салон"» можно отметить, что была разработана информационная система</a:t>
            </a:r>
            <a:r>
              <a:rPr lang="ru-RU" sz="2400" dirty="0">
                <a:latin typeface="SB Sans Text"/>
                <a:ea typeface="Times New Roman" panose="02020603050405020304" pitchFamily="18" charset="0"/>
              </a:rPr>
              <a:t> </a:t>
            </a:r>
            <a:r>
              <a:rPr lang="ru-RU" sz="2400" b="0" i="0" dirty="0">
                <a:effectLst/>
                <a:latin typeface="SB Sans Text"/>
              </a:rPr>
              <a:t>для автоматизации бизнес-процессов онлайн-магазина мебели «</a:t>
            </a:r>
            <a:r>
              <a:rPr lang="ru-RU" sz="2400" b="0" i="0" dirty="0" err="1">
                <a:effectLst/>
                <a:latin typeface="SB Sans Text"/>
              </a:rPr>
              <a:t>Navi</a:t>
            </a:r>
            <a:r>
              <a:rPr lang="ru-RU" sz="2400" b="0" i="0" dirty="0">
                <a:effectLst/>
                <a:latin typeface="SB Sans Text"/>
              </a:rPr>
              <a:t>». </a:t>
            </a:r>
            <a:r>
              <a:rPr lang="ru-RU" sz="2400" dirty="0">
                <a:latin typeface="SB Sans Text"/>
              </a:rPr>
              <a:t>Она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 предоставляет клиентам возможность выбора товаров, оформление заказов и получение доставки. Разработка </a:t>
            </a:r>
            <a:r>
              <a:rPr lang="ru-RU" sz="2400" dirty="0">
                <a:ea typeface="Times New Roman" panose="02020603050405020304" pitchFamily="18" charset="0"/>
              </a:rPr>
              <a:t>данной</a:t>
            </a:r>
            <a:r>
              <a:rPr lang="ru-RU" sz="2400" dirty="0">
                <a:effectLst/>
                <a:ea typeface="Times New Roman" panose="02020603050405020304" pitchFamily="18" charset="0"/>
              </a:rPr>
              <a:t> системы представляет собой важный шаг в сфере онлайн-продаж, обеспечивая клиентам удобный и доступный способ выбора и приобретения готовой мебели.</a:t>
            </a:r>
          </a:p>
        </p:txBody>
      </p:sp>
    </p:spTree>
    <p:extLst>
      <p:ext uri="{BB962C8B-B14F-4D97-AF65-F5344CB8AC3E}">
        <p14:creationId xmlns:p14="http://schemas.microsoft.com/office/powerpoint/2010/main" val="145102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71487" y="2975428"/>
            <a:ext cx="7867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1131731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иний и зеленый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470</TotalTime>
  <Words>778</Words>
  <Application>Microsoft Office PowerPoint</Application>
  <PresentationFormat>Широкоэкранный</PresentationFormat>
  <Paragraphs>98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SB Sans Text</vt:lpstr>
      <vt:lpstr>Times New Roman</vt:lpstr>
      <vt:lpstr>Тема Office</vt:lpstr>
      <vt:lpstr>Курсовой проект на тему «Проектирование ИС “Мебельный салон”»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Daun</cp:lastModifiedBy>
  <cp:revision>38</cp:revision>
  <dcterms:created xsi:type="dcterms:W3CDTF">2024-05-05T14:16:46Z</dcterms:created>
  <dcterms:modified xsi:type="dcterms:W3CDTF">2026-05-06T15:10:33Z</dcterms:modified>
</cp:coreProperties>
</file>